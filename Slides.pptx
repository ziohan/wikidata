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Open Sans Bold" charset="1" panose="020B0806030504020204"/>
      <p:regular r:id="rId14"/>
    </p:embeddedFont>
    <p:embeddedFont>
      <p:font typeface="Open Sans" charset="1" panose="020B060603050402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26595" y="419633"/>
            <a:ext cx="6835910" cy="2717274"/>
          </a:xfrm>
          <a:custGeom>
            <a:avLst/>
            <a:gdLst/>
            <a:ahLst/>
            <a:cxnLst/>
            <a:rect r="r" b="b" t="t" l="l"/>
            <a:pathLst>
              <a:path h="2717274" w="6835910">
                <a:moveTo>
                  <a:pt x="0" y="0"/>
                </a:moveTo>
                <a:lnTo>
                  <a:pt x="6835909" y="0"/>
                </a:lnTo>
                <a:lnTo>
                  <a:pt x="6835909" y="2717274"/>
                </a:lnTo>
                <a:lnTo>
                  <a:pt x="0" y="27172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35562" y="4745292"/>
            <a:ext cx="4513008" cy="4513008"/>
          </a:xfrm>
          <a:custGeom>
            <a:avLst/>
            <a:gdLst/>
            <a:ahLst/>
            <a:cxnLst/>
            <a:rect r="r" b="b" t="t" l="l"/>
            <a:pathLst>
              <a:path h="4513008" w="4513008">
                <a:moveTo>
                  <a:pt x="0" y="0"/>
                </a:moveTo>
                <a:lnTo>
                  <a:pt x="4513009" y="0"/>
                </a:lnTo>
                <a:lnTo>
                  <a:pt x="4513009" y="4513008"/>
                </a:lnTo>
                <a:lnTo>
                  <a:pt x="0" y="45130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75107" y="419633"/>
            <a:ext cx="553593" cy="9635084"/>
          </a:xfrm>
          <a:custGeom>
            <a:avLst/>
            <a:gdLst/>
            <a:ahLst/>
            <a:cxnLst/>
            <a:rect r="r" b="b" t="t" l="l"/>
            <a:pathLst>
              <a:path h="9635084" w="553593">
                <a:moveTo>
                  <a:pt x="0" y="0"/>
                </a:moveTo>
                <a:lnTo>
                  <a:pt x="553593" y="0"/>
                </a:lnTo>
                <a:lnTo>
                  <a:pt x="553593" y="9635084"/>
                </a:lnTo>
                <a:lnTo>
                  <a:pt x="0" y="96350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0537" t="0" r="-1563923" b="-229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854392" y="3309828"/>
            <a:ext cx="10579217" cy="1205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8"/>
              </a:lnSpc>
              <a:spcBef>
                <a:spcPct val="0"/>
              </a:spcBef>
            </a:pPr>
            <a:r>
              <a:rPr lang="en-US" b="true" sz="347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Creation of an application for generating Wikidata triples for entities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6064460"/>
            <a:ext cx="5904309" cy="1807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1"/>
              </a:lnSpc>
            </a:pPr>
            <a:r>
              <a:rPr lang="en-US" sz="344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Felipe Mateus Falcão Barreto</a:t>
            </a:r>
          </a:p>
          <a:p>
            <a:pPr algn="l">
              <a:lnSpc>
                <a:spcPts val="4821"/>
              </a:lnSpc>
            </a:pPr>
            <a:r>
              <a:rPr lang="en-US" sz="344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Najib Mounsif</a:t>
            </a:r>
          </a:p>
          <a:p>
            <a:pPr algn="l">
              <a:lnSpc>
                <a:spcPts val="4821"/>
              </a:lnSpc>
              <a:spcBef>
                <a:spcPct val="0"/>
              </a:spcBef>
            </a:pPr>
            <a:r>
              <a:rPr lang="en-US" sz="344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Taha Ramdan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47014" y="419633"/>
            <a:ext cx="3015491" cy="1198658"/>
          </a:xfrm>
          <a:custGeom>
            <a:avLst/>
            <a:gdLst/>
            <a:ahLst/>
            <a:cxnLst/>
            <a:rect r="r" b="b" t="t" l="l"/>
            <a:pathLst>
              <a:path h="1198658" w="3015491">
                <a:moveTo>
                  <a:pt x="0" y="0"/>
                </a:moveTo>
                <a:lnTo>
                  <a:pt x="3015490" y="0"/>
                </a:lnTo>
                <a:lnTo>
                  <a:pt x="3015490" y="1198658"/>
                </a:lnTo>
                <a:lnTo>
                  <a:pt x="0" y="11986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5107" y="419633"/>
            <a:ext cx="553593" cy="9635084"/>
          </a:xfrm>
          <a:custGeom>
            <a:avLst/>
            <a:gdLst/>
            <a:ahLst/>
            <a:cxnLst/>
            <a:rect r="r" b="b" t="t" l="l"/>
            <a:pathLst>
              <a:path h="9635084" w="553593">
                <a:moveTo>
                  <a:pt x="0" y="0"/>
                </a:moveTo>
                <a:lnTo>
                  <a:pt x="553593" y="0"/>
                </a:lnTo>
                <a:lnTo>
                  <a:pt x="553593" y="9635084"/>
                </a:lnTo>
                <a:lnTo>
                  <a:pt x="0" y="96350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0537" t="0" r="-1563923" b="-22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384964" y="1947030"/>
            <a:ext cx="11518072" cy="6118976"/>
          </a:xfrm>
          <a:custGeom>
            <a:avLst/>
            <a:gdLst/>
            <a:ahLst/>
            <a:cxnLst/>
            <a:rect r="r" b="b" t="t" l="l"/>
            <a:pathLst>
              <a:path h="6118976" w="11518072">
                <a:moveTo>
                  <a:pt x="0" y="0"/>
                </a:moveTo>
                <a:lnTo>
                  <a:pt x="11518072" y="0"/>
                </a:lnTo>
                <a:lnTo>
                  <a:pt x="11518072" y="6118976"/>
                </a:lnTo>
                <a:lnTo>
                  <a:pt x="0" y="61189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35562" y="967969"/>
            <a:ext cx="1128954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AutoNum type="arabicPeriod" startAt="1"/>
            </a:pP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Context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62523" y="8323181"/>
            <a:ext cx="8835624" cy="15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Triple extraction is essential in NLP</a:t>
            </a:r>
          </a:p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Entity disambiguation depends on these relationships</a:t>
            </a:r>
          </a:p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Wikidata offers structured knowledge on a large scale</a:t>
            </a:r>
          </a:p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Lack of automated tool for triple extraction and ranking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47014" y="419633"/>
            <a:ext cx="3015491" cy="1198658"/>
          </a:xfrm>
          <a:custGeom>
            <a:avLst/>
            <a:gdLst/>
            <a:ahLst/>
            <a:cxnLst/>
            <a:rect r="r" b="b" t="t" l="l"/>
            <a:pathLst>
              <a:path h="1198658" w="3015491">
                <a:moveTo>
                  <a:pt x="0" y="0"/>
                </a:moveTo>
                <a:lnTo>
                  <a:pt x="3015490" y="0"/>
                </a:lnTo>
                <a:lnTo>
                  <a:pt x="3015490" y="1198658"/>
                </a:lnTo>
                <a:lnTo>
                  <a:pt x="0" y="11986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5107" y="419633"/>
            <a:ext cx="553593" cy="9635084"/>
          </a:xfrm>
          <a:custGeom>
            <a:avLst/>
            <a:gdLst/>
            <a:ahLst/>
            <a:cxnLst/>
            <a:rect r="r" b="b" t="t" l="l"/>
            <a:pathLst>
              <a:path h="9635084" w="553593">
                <a:moveTo>
                  <a:pt x="0" y="0"/>
                </a:moveTo>
                <a:lnTo>
                  <a:pt x="553593" y="0"/>
                </a:lnTo>
                <a:lnTo>
                  <a:pt x="553593" y="9635084"/>
                </a:lnTo>
                <a:lnTo>
                  <a:pt x="0" y="96350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0537" t="0" r="-1563923" b="-22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0655" y="3257533"/>
            <a:ext cx="2812259" cy="991960"/>
          </a:xfrm>
          <a:custGeom>
            <a:avLst/>
            <a:gdLst/>
            <a:ahLst/>
            <a:cxnLst/>
            <a:rect r="r" b="b" t="t" l="l"/>
            <a:pathLst>
              <a:path h="991960" w="2812259">
                <a:moveTo>
                  <a:pt x="0" y="0"/>
                </a:moveTo>
                <a:lnTo>
                  <a:pt x="2812259" y="0"/>
                </a:lnTo>
                <a:lnTo>
                  <a:pt x="2812259" y="991960"/>
                </a:lnTo>
                <a:lnTo>
                  <a:pt x="0" y="9919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090064" y="3700583"/>
            <a:ext cx="1769806" cy="176981"/>
          </a:xfrm>
          <a:custGeom>
            <a:avLst/>
            <a:gdLst/>
            <a:ahLst/>
            <a:cxnLst/>
            <a:rect r="r" b="b" t="t" l="l"/>
            <a:pathLst>
              <a:path h="176981" w="1769806">
                <a:moveTo>
                  <a:pt x="0" y="0"/>
                </a:moveTo>
                <a:lnTo>
                  <a:pt x="1769806" y="0"/>
                </a:lnTo>
                <a:lnTo>
                  <a:pt x="1769806" y="176980"/>
                </a:lnTo>
                <a:lnTo>
                  <a:pt x="0" y="1769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786429" y="3700583"/>
            <a:ext cx="1769806" cy="176981"/>
          </a:xfrm>
          <a:custGeom>
            <a:avLst/>
            <a:gdLst/>
            <a:ahLst/>
            <a:cxnLst/>
            <a:rect r="r" b="b" t="t" l="l"/>
            <a:pathLst>
              <a:path h="176981" w="1769806">
                <a:moveTo>
                  <a:pt x="0" y="0"/>
                </a:moveTo>
                <a:lnTo>
                  <a:pt x="1769806" y="0"/>
                </a:lnTo>
                <a:lnTo>
                  <a:pt x="1769806" y="176980"/>
                </a:lnTo>
                <a:lnTo>
                  <a:pt x="0" y="1769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917020" y="3293093"/>
            <a:ext cx="2812259" cy="991960"/>
          </a:xfrm>
          <a:custGeom>
            <a:avLst/>
            <a:gdLst/>
            <a:ahLst/>
            <a:cxnLst/>
            <a:rect r="r" b="b" t="t" l="l"/>
            <a:pathLst>
              <a:path h="991960" w="2812259">
                <a:moveTo>
                  <a:pt x="0" y="0"/>
                </a:moveTo>
                <a:lnTo>
                  <a:pt x="2812259" y="0"/>
                </a:lnTo>
                <a:lnTo>
                  <a:pt x="2812259" y="991960"/>
                </a:lnTo>
                <a:lnTo>
                  <a:pt x="0" y="9919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622910" y="3293093"/>
            <a:ext cx="2812259" cy="991960"/>
          </a:xfrm>
          <a:custGeom>
            <a:avLst/>
            <a:gdLst/>
            <a:ahLst/>
            <a:cxnLst/>
            <a:rect r="r" b="b" t="t" l="l"/>
            <a:pathLst>
              <a:path h="991960" w="2812259">
                <a:moveTo>
                  <a:pt x="0" y="0"/>
                </a:moveTo>
                <a:lnTo>
                  <a:pt x="2812259" y="0"/>
                </a:lnTo>
                <a:lnTo>
                  <a:pt x="2812259" y="991960"/>
                </a:lnTo>
                <a:lnTo>
                  <a:pt x="0" y="9919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501844" y="3700583"/>
            <a:ext cx="1769806" cy="176981"/>
          </a:xfrm>
          <a:custGeom>
            <a:avLst/>
            <a:gdLst/>
            <a:ahLst/>
            <a:cxnLst/>
            <a:rect r="r" b="b" t="t" l="l"/>
            <a:pathLst>
              <a:path h="176981" w="1769806">
                <a:moveTo>
                  <a:pt x="0" y="0"/>
                </a:moveTo>
                <a:lnTo>
                  <a:pt x="1769807" y="0"/>
                </a:lnTo>
                <a:lnTo>
                  <a:pt x="1769807" y="176980"/>
                </a:lnTo>
                <a:lnTo>
                  <a:pt x="0" y="1769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338326" y="3293093"/>
            <a:ext cx="2812259" cy="991960"/>
          </a:xfrm>
          <a:custGeom>
            <a:avLst/>
            <a:gdLst/>
            <a:ahLst/>
            <a:cxnLst/>
            <a:rect r="r" b="b" t="t" l="l"/>
            <a:pathLst>
              <a:path h="991960" w="2812259">
                <a:moveTo>
                  <a:pt x="0" y="0"/>
                </a:moveTo>
                <a:lnTo>
                  <a:pt x="2812259" y="0"/>
                </a:lnTo>
                <a:lnTo>
                  <a:pt x="2812259" y="991960"/>
                </a:lnTo>
                <a:lnTo>
                  <a:pt x="0" y="9919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029040" y="5333340"/>
            <a:ext cx="5669642" cy="3066513"/>
          </a:xfrm>
          <a:custGeom>
            <a:avLst/>
            <a:gdLst/>
            <a:ahLst/>
            <a:cxnLst/>
            <a:rect r="r" b="b" t="t" l="l"/>
            <a:pathLst>
              <a:path h="3066513" w="5669642">
                <a:moveTo>
                  <a:pt x="0" y="0"/>
                </a:moveTo>
                <a:lnTo>
                  <a:pt x="5669642" y="0"/>
                </a:lnTo>
                <a:lnTo>
                  <a:pt x="5669642" y="3066513"/>
                </a:lnTo>
                <a:lnTo>
                  <a:pt x="0" y="30665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235562" y="967969"/>
            <a:ext cx="1128954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AutoNum type="arabicPeriod" startAt="1"/>
            </a:pP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Pipeline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6369" y="3388388"/>
            <a:ext cx="2706545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7F7F7"/>
                </a:solidFill>
                <a:latin typeface="Open Sans"/>
                <a:ea typeface="Open Sans"/>
                <a:cs typeface="Open Sans"/>
                <a:sym typeface="Open Sans"/>
              </a:rPr>
              <a:t>CSV file with named entities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17020" y="3469033"/>
            <a:ext cx="2800106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7F7F7"/>
                </a:solidFill>
                <a:latin typeface="Open Sans"/>
                <a:ea typeface="Open Sans"/>
                <a:cs typeface="Open Sans"/>
                <a:sym typeface="Open Sans"/>
              </a:rPr>
              <a:t>Executes triples extraction with saved file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444040" y="3388388"/>
            <a:ext cx="2706545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7F7F7"/>
                </a:solidFill>
                <a:latin typeface="Open Sans"/>
                <a:ea typeface="Open Sans"/>
                <a:cs typeface="Open Sans"/>
                <a:sym typeface="Open Sans"/>
              </a:rPr>
              <a:t>Store ids, labels and query data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613385" y="3451253"/>
            <a:ext cx="2911722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F7F7F7"/>
                </a:solidFill>
                <a:latin typeface="Open Sans"/>
                <a:ea typeface="Open Sans"/>
                <a:cs typeface="Open Sans"/>
                <a:sym typeface="Open Sans"/>
              </a:rPr>
              <a:t>Query Wikidata, ranks results and generate graph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26369" y="5780747"/>
            <a:ext cx="15130492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10101"/>
                </a:solidFill>
                <a:latin typeface="Open Sans"/>
                <a:ea typeface="Open Sans"/>
                <a:cs typeface="Open Sans"/>
                <a:sym typeface="Open Sans"/>
              </a:rPr>
              <a:t>3065 queries in dataset base (723kb of data)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10101"/>
                </a:solidFill>
                <a:latin typeface="Open Sans"/>
                <a:ea typeface="Open Sans"/>
                <a:cs typeface="Open Sans"/>
                <a:sym typeface="Open Sans"/>
              </a:rPr>
              <a:t>Input: Title, entities ids, entities labels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10101"/>
                </a:solidFill>
                <a:latin typeface="Open Sans"/>
                <a:ea typeface="Open Sans"/>
                <a:cs typeface="Open Sans"/>
                <a:sym typeface="Open Sans"/>
              </a:rPr>
              <a:t>Output: Triples and knowledge graph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0101"/>
                </a:solidFill>
                <a:latin typeface="Open Sans"/>
                <a:ea typeface="Open Sans"/>
                <a:cs typeface="Open Sans"/>
                <a:sym typeface="Open Sans"/>
              </a:rPr>
              <a:t>Stack: Angular, Scikit-learn, FastAPI, SQLite and SPARQL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2315869" y="1631950"/>
          <a:ext cx="5132383" cy="2466975"/>
        </p:xfrm>
        <a:graphic>
          <a:graphicData uri="http://schemas.openxmlformats.org/drawingml/2006/table">
            <a:tbl>
              <a:tblPr/>
              <a:tblGrid>
                <a:gridCol w="1710794"/>
                <a:gridCol w="1710794"/>
                <a:gridCol w="1710794"/>
              </a:tblGrid>
              <a:tr h="8223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entities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queries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query_results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8223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qid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triple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  <a:tr h="8223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label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title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query_id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5864458" y="4444881"/>
          <a:ext cx="1583794" cy="698619"/>
        </p:xfrm>
        <a:graphic>
          <a:graphicData uri="http://schemas.openxmlformats.org/drawingml/2006/table">
            <a:tbl>
              <a:tblPr/>
              <a:tblGrid>
                <a:gridCol w="1583794"/>
              </a:tblGrid>
              <a:tr h="69861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subject_qid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4090164" y="4444881"/>
          <a:ext cx="1583794" cy="698619"/>
        </p:xfrm>
        <a:graphic>
          <a:graphicData uri="http://schemas.openxmlformats.org/drawingml/2006/table">
            <a:tbl>
              <a:tblPr/>
              <a:tblGrid>
                <a:gridCol w="1583794"/>
              </a:tblGrid>
              <a:tr h="69861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top_n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5864458" y="5277484"/>
          <a:ext cx="1583794" cy="698619"/>
        </p:xfrm>
        <a:graphic>
          <a:graphicData uri="http://schemas.openxmlformats.org/drawingml/2006/table">
            <a:tbl>
              <a:tblPr/>
              <a:tblGrid>
                <a:gridCol w="1583794"/>
              </a:tblGrid>
              <a:tr h="69861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</a:tbl>
          </a:graphicData>
        </a:graphic>
      </p:graphicFrame>
      <p:sp>
        <p:nvSpPr>
          <p:cNvPr name="Freeform 6" id="6"/>
          <p:cNvSpPr/>
          <p:nvPr/>
        </p:nvSpPr>
        <p:spPr>
          <a:xfrm flipH="false" flipV="false" rot="0">
            <a:off x="2788905" y="5482070"/>
            <a:ext cx="11301259" cy="1525670"/>
          </a:xfrm>
          <a:custGeom>
            <a:avLst/>
            <a:gdLst/>
            <a:ahLst/>
            <a:cxnLst/>
            <a:rect r="r" b="b" t="t" l="l"/>
            <a:pathLst>
              <a:path h="1525670" w="11301259">
                <a:moveTo>
                  <a:pt x="0" y="0"/>
                </a:moveTo>
                <a:lnTo>
                  <a:pt x="11301259" y="0"/>
                </a:lnTo>
                <a:lnTo>
                  <a:pt x="11301259" y="1525670"/>
                </a:lnTo>
                <a:lnTo>
                  <a:pt x="0" y="15256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788905" y="8058257"/>
            <a:ext cx="11301259" cy="1751695"/>
          </a:xfrm>
          <a:custGeom>
            <a:avLst/>
            <a:gdLst/>
            <a:ahLst/>
            <a:cxnLst/>
            <a:rect r="r" b="b" t="t" l="l"/>
            <a:pathLst>
              <a:path h="1751695" w="11301259">
                <a:moveTo>
                  <a:pt x="0" y="0"/>
                </a:moveTo>
                <a:lnTo>
                  <a:pt x="11301259" y="0"/>
                </a:lnTo>
                <a:lnTo>
                  <a:pt x="11301259" y="1751695"/>
                </a:lnTo>
                <a:lnTo>
                  <a:pt x="0" y="17516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72923" y="866775"/>
            <a:ext cx="1128954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AutoNum type="arabicPeriod" startAt="1"/>
            </a:pP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Knowledge Triplet Extraction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6558" y="2164817"/>
            <a:ext cx="9316981" cy="2651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32" indent="-269866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Reading the CSV file</a:t>
            </a:r>
          </a:p>
          <a:p>
            <a:pPr algn="l" marL="539732" indent="-269866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Entity linking to obtain IDs</a:t>
            </a:r>
          </a:p>
          <a:p>
            <a:pPr algn="l" marL="539732" indent="-269866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Queryi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tripl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via Wikidata SPARQL</a:t>
            </a:r>
          </a:p>
          <a:p>
            <a:pPr algn="l" marL="539732" indent="-269866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Filt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ly v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lid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tripl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</a:p>
          <a:p>
            <a:pPr algn="l" marL="539732" indent="-269866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Extra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ct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ng unique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IDs 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fr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tripl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and obtaning labels</a:t>
            </a:r>
          </a:p>
          <a:p>
            <a:pPr algn="l" marL="539732" indent="-269866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Inser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ting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enti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es, predica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and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tripl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data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692176" y="7414635"/>
            <a:ext cx="4185358" cy="443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2"/>
              </a:lnSpc>
            </a:pPr>
            <a:r>
              <a:rPr lang="en-US" sz="25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Q2</a:t>
            </a:r>
            <a:r>
              <a:rPr lang="en-US" sz="25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— P31 — Q3504248.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6558" y="7043173"/>
            <a:ext cx="8896650" cy="428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Example :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542465" y="325958"/>
            <a:ext cx="553593" cy="9635084"/>
          </a:xfrm>
          <a:custGeom>
            <a:avLst/>
            <a:gdLst/>
            <a:ahLst/>
            <a:cxnLst/>
            <a:rect r="r" b="b" t="t" l="l"/>
            <a:pathLst>
              <a:path h="9635084" w="553593">
                <a:moveTo>
                  <a:pt x="0" y="0"/>
                </a:moveTo>
                <a:lnTo>
                  <a:pt x="553593" y="0"/>
                </a:lnTo>
                <a:lnTo>
                  <a:pt x="553593" y="9635084"/>
                </a:lnTo>
                <a:lnTo>
                  <a:pt x="0" y="96350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0537" t="0" r="-1563923" b="-229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47014" y="419633"/>
            <a:ext cx="3015491" cy="1198658"/>
          </a:xfrm>
          <a:custGeom>
            <a:avLst/>
            <a:gdLst/>
            <a:ahLst/>
            <a:cxnLst/>
            <a:rect r="r" b="b" t="t" l="l"/>
            <a:pathLst>
              <a:path h="1198658" w="3015491">
                <a:moveTo>
                  <a:pt x="0" y="0"/>
                </a:moveTo>
                <a:lnTo>
                  <a:pt x="3015490" y="0"/>
                </a:lnTo>
                <a:lnTo>
                  <a:pt x="3015490" y="1198658"/>
                </a:lnTo>
                <a:lnTo>
                  <a:pt x="0" y="11986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5107" y="419633"/>
            <a:ext cx="553593" cy="9635084"/>
          </a:xfrm>
          <a:custGeom>
            <a:avLst/>
            <a:gdLst/>
            <a:ahLst/>
            <a:cxnLst/>
            <a:rect r="r" b="b" t="t" l="l"/>
            <a:pathLst>
              <a:path h="9635084" w="553593">
                <a:moveTo>
                  <a:pt x="0" y="0"/>
                </a:moveTo>
                <a:lnTo>
                  <a:pt x="553593" y="0"/>
                </a:lnTo>
                <a:lnTo>
                  <a:pt x="553593" y="9635084"/>
                </a:lnTo>
                <a:lnTo>
                  <a:pt x="0" y="96350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0537" t="0" r="-1563923" b="-22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372721" y="2422363"/>
            <a:ext cx="7974796" cy="6279341"/>
          </a:xfrm>
          <a:custGeom>
            <a:avLst/>
            <a:gdLst/>
            <a:ahLst/>
            <a:cxnLst/>
            <a:rect r="r" b="b" t="t" l="l"/>
            <a:pathLst>
              <a:path h="6279341" w="7974796">
                <a:moveTo>
                  <a:pt x="0" y="0"/>
                </a:moveTo>
                <a:lnTo>
                  <a:pt x="7974797" y="0"/>
                </a:lnTo>
                <a:lnTo>
                  <a:pt x="7974797" y="6279341"/>
                </a:lnTo>
                <a:lnTo>
                  <a:pt x="0" y="62793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9158" t="0" r="-43864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29298" y="942762"/>
            <a:ext cx="11818219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AutoNum type="arabicPeriod" startAt="1"/>
            </a:pP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Construction of the knowledge graph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7364" y="2733158"/>
            <a:ext cx="4586489" cy="966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8"/>
              </a:lnSpc>
            </a:pPr>
            <a:r>
              <a:rPr lang="en-US" sz="282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82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 document acts as the central root.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576535" y="6415246"/>
            <a:ext cx="5397415" cy="3639470"/>
            <a:chOff x="0" y="0"/>
            <a:chExt cx="7196554" cy="485262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14884" cy="4852627"/>
            </a:xfrm>
            <a:custGeom>
              <a:avLst/>
              <a:gdLst/>
              <a:ahLst/>
              <a:cxnLst/>
              <a:rect r="r" b="b" t="t" l="l"/>
              <a:pathLst>
                <a:path h="4852627" w="1614884">
                  <a:moveTo>
                    <a:pt x="0" y="0"/>
                  </a:moveTo>
                  <a:lnTo>
                    <a:pt x="1614884" y="0"/>
                  </a:lnTo>
                  <a:lnTo>
                    <a:pt x="1614884" y="4852627"/>
                  </a:lnTo>
                  <a:lnTo>
                    <a:pt x="0" y="4852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352586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377544" y="13202"/>
              <a:ext cx="4862077" cy="9352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6"/>
                </a:lnSpc>
                <a:spcBef>
                  <a:spcPct val="0"/>
                </a:spcBef>
              </a:pPr>
              <a:r>
                <a:rPr lang="en-US" sz="2054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Document</a:t>
              </a:r>
            </a:p>
            <a:p>
              <a:pPr algn="l">
                <a:lnSpc>
                  <a:spcPts val="2876"/>
                </a:lnSpc>
                <a:spcBef>
                  <a:spcPct val="0"/>
                </a:spcBef>
              </a:pPr>
              <a:r>
                <a:rPr lang="en-US" sz="2054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Central point of the graph.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377544" y="1274070"/>
              <a:ext cx="5819010" cy="9352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6"/>
                </a:lnSpc>
                <a:spcBef>
                  <a:spcPct val="0"/>
                </a:spcBef>
              </a:pPr>
              <a:r>
                <a:rPr lang="en-US" sz="2054" strike="noStrike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Main Entities</a:t>
              </a:r>
            </a:p>
            <a:p>
              <a:pPr algn="l" marL="0" indent="0" lvl="0">
                <a:lnSpc>
                  <a:spcPts val="2876"/>
                </a:lnSpc>
                <a:spcBef>
                  <a:spcPct val="0"/>
                </a:spcBef>
              </a:pPr>
              <a:r>
                <a:rPr lang="en-US" sz="2054" strike="noStrike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Concepts extracted from the text.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377544" y="2388214"/>
              <a:ext cx="5050455" cy="9352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6"/>
                </a:lnSpc>
                <a:spcBef>
                  <a:spcPct val="0"/>
                </a:spcBef>
              </a:pPr>
              <a:r>
                <a:rPr lang="en-US" sz="2054" strike="noStrike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Relations</a:t>
              </a:r>
            </a:p>
            <a:p>
              <a:pPr algn="l" marL="0" indent="0" lvl="0">
                <a:lnSpc>
                  <a:spcPts val="2876"/>
                </a:lnSpc>
                <a:spcBef>
                  <a:spcPct val="0"/>
                </a:spcBef>
              </a:pPr>
              <a:r>
                <a:rPr lang="en-US" sz="2054" strike="noStrike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Links retrieved from Wikidata.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377544" y="3647942"/>
              <a:ext cx="5500507" cy="9352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6"/>
                </a:lnSpc>
                <a:spcBef>
                  <a:spcPct val="0"/>
                </a:spcBef>
              </a:pPr>
              <a:r>
                <a:rPr lang="en-US" sz="2054" strike="noStrike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Associated Objects</a:t>
              </a:r>
            </a:p>
            <a:p>
              <a:pPr algn="l" marL="0" indent="0" lvl="0">
                <a:lnSpc>
                  <a:spcPts val="2876"/>
                </a:lnSpc>
                <a:spcBef>
                  <a:spcPct val="0"/>
                </a:spcBef>
              </a:pPr>
              <a:r>
                <a:rPr lang="en-US" sz="2054" strike="noStrike" u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Knowledge added to the context.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941216" y="4760811"/>
            <a:ext cx="4185358" cy="895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2"/>
              </a:lnSpc>
            </a:pPr>
            <a:r>
              <a:rPr lang="en-US" sz="25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Extract</a:t>
            </a:r>
            <a:r>
              <a:rPr lang="en-US" sz="25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ed entities spread out from the source.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7364" y="6358096"/>
            <a:ext cx="4185358" cy="1363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2"/>
              </a:lnSpc>
            </a:pPr>
            <a:r>
              <a:rPr lang="en-US" sz="25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Wikidata</a:t>
            </a:r>
            <a:r>
              <a:rPr lang="en-US" sz="25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enrichment adds external knowledge.</a:t>
            </a:r>
          </a:p>
          <a:p>
            <a:pPr algn="ctr">
              <a:lnSpc>
                <a:spcPts val="3612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47014" y="419633"/>
            <a:ext cx="3015491" cy="1198658"/>
          </a:xfrm>
          <a:custGeom>
            <a:avLst/>
            <a:gdLst/>
            <a:ahLst/>
            <a:cxnLst/>
            <a:rect r="r" b="b" t="t" l="l"/>
            <a:pathLst>
              <a:path h="1198658" w="3015491">
                <a:moveTo>
                  <a:pt x="0" y="0"/>
                </a:moveTo>
                <a:lnTo>
                  <a:pt x="3015490" y="0"/>
                </a:lnTo>
                <a:lnTo>
                  <a:pt x="3015490" y="1198658"/>
                </a:lnTo>
                <a:lnTo>
                  <a:pt x="0" y="11986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5107" y="419633"/>
            <a:ext cx="553593" cy="9635084"/>
          </a:xfrm>
          <a:custGeom>
            <a:avLst/>
            <a:gdLst/>
            <a:ahLst/>
            <a:cxnLst/>
            <a:rect r="r" b="b" t="t" l="l"/>
            <a:pathLst>
              <a:path h="9635084" w="553593">
                <a:moveTo>
                  <a:pt x="0" y="0"/>
                </a:moveTo>
                <a:lnTo>
                  <a:pt x="553593" y="0"/>
                </a:lnTo>
                <a:lnTo>
                  <a:pt x="553593" y="9635084"/>
                </a:lnTo>
                <a:lnTo>
                  <a:pt x="0" y="96350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0537" t="0" r="-1563923" b="-22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104158" y="3800734"/>
            <a:ext cx="4309324" cy="2872883"/>
          </a:xfrm>
          <a:custGeom>
            <a:avLst/>
            <a:gdLst/>
            <a:ahLst/>
            <a:cxnLst/>
            <a:rect r="r" b="b" t="t" l="l"/>
            <a:pathLst>
              <a:path h="2872883" w="4309324">
                <a:moveTo>
                  <a:pt x="0" y="0"/>
                </a:moveTo>
                <a:lnTo>
                  <a:pt x="4309325" y="0"/>
                </a:lnTo>
                <a:lnTo>
                  <a:pt x="4309325" y="2872883"/>
                </a:lnTo>
                <a:lnTo>
                  <a:pt x="0" y="28728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35562" y="967969"/>
            <a:ext cx="1128954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AutoNum type="arabicPeriod" startAt="1"/>
            </a:pP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Ranking triplets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05883" y="3481696"/>
            <a:ext cx="8744110" cy="346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0429" indent="-305214" lvl="1">
              <a:lnSpc>
                <a:spcPts val="3958"/>
              </a:lnSpc>
              <a:buFont typeface="Arial"/>
              <a:buChar char="•"/>
            </a:pPr>
            <a:r>
              <a:rPr lang="en-US" sz="282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QIDs convertion to standard Wikidata format</a:t>
            </a:r>
          </a:p>
          <a:p>
            <a:pPr algn="l" marL="610429" indent="-305214" lvl="1">
              <a:lnSpc>
                <a:spcPts val="3958"/>
              </a:lnSpc>
              <a:buFont typeface="Arial"/>
              <a:buChar char="•"/>
            </a:pPr>
            <a:r>
              <a:rPr lang="en-US" sz="282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Triples search in the database or Wikidata</a:t>
            </a:r>
          </a:p>
          <a:p>
            <a:pPr algn="l" marL="610429" indent="-305214" lvl="1">
              <a:lnSpc>
                <a:spcPts val="3958"/>
              </a:lnSpc>
              <a:buFont typeface="Arial"/>
              <a:buChar char="•"/>
            </a:pPr>
            <a:r>
              <a:rPr lang="en-US" sz="282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Empty and invalid triples filter</a:t>
            </a:r>
          </a:p>
          <a:p>
            <a:pPr algn="l" marL="610429" indent="-305214" lvl="1">
              <a:lnSpc>
                <a:spcPts val="3958"/>
              </a:lnSpc>
              <a:buFont typeface="Arial"/>
              <a:buChar char="•"/>
            </a:pPr>
            <a:r>
              <a:rPr lang="en-US" sz="282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Generates semantic embeddings with bi-encoder and predicate weight</a:t>
            </a:r>
          </a:p>
          <a:p>
            <a:pPr algn="l" marL="610429" indent="-305214" lvl="1">
              <a:lnSpc>
                <a:spcPts val="3958"/>
              </a:lnSpc>
              <a:buFont typeface="Arial"/>
              <a:buChar char="•"/>
            </a:pPr>
            <a:r>
              <a:rPr lang="en-US" sz="282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Combination of multiple score</a:t>
            </a:r>
          </a:p>
          <a:p>
            <a:pPr algn="l" marL="610429" indent="-305214" lvl="1">
              <a:lnSpc>
                <a:spcPts val="3958"/>
              </a:lnSpc>
              <a:buFont typeface="Arial"/>
              <a:buChar char="•"/>
            </a:pPr>
            <a:r>
              <a:rPr lang="en-US" sz="282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Triples ranking and graph generation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47014" y="419633"/>
            <a:ext cx="3015491" cy="1198658"/>
          </a:xfrm>
          <a:custGeom>
            <a:avLst/>
            <a:gdLst/>
            <a:ahLst/>
            <a:cxnLst/>
            <a:rect r="r" b="b" t="t" l="l"/>
            <a:pathLst>
              <a:path h="1198658" w="3015491">
                <a:moveTo>
                  <a:pt x="0" y="0"/>
                </a:moveTo>
                <a:lnTo>
                  <a:pt x="3015490" y="0"/>
                </a:lnTo>
                <a:lnTo>
                  <a:pt x="3015490" y="1198658"/>
                </a:lnTo>
                <a:lnTo>
                  <a:pt x="0" y="11986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5107" y="419633"/>
            <a:ext cx="553593" cy="9635084"/>
          </a:xfrm>
          <a:custGeom>
            <a:avLst/>
            <a:gdLst/>
            <a:ahLst/>
            <a:cxnLst/>
            <a:rect r="r" b="b" t="t" l="l"/>
            <a:pathLst>
              <a:path h="9635084" w="553593">
                <a:moveTo>
                  <a:pt x="0" y="0"/>
                </a:moveTo>
                <a:lnTo>
                  <a:pt x="553593" y="0"/>
                </a:lnTo>
                <a:lnTo>
                  <a:pt x="553593" y="9635084"/>
                </a:lnTo>
                <a:lnTo>
                  <a:pt x="0" y="96350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0537" t="0" r="-1563923" b="-22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02994" y="5719264"/>
            <a:ext cx="6819371" cy="3539036"/>
          </a:xfrm>
          <a:custGeom>
            <a:avLst/>
            <a:gdLst/>
            <a:ahLst/>
            <a:cxnLst/>
            <a:rect r="r" b="b" t="t" l="l"/>
            <a:pathLst>
              <a:path h="3539036" w="6819371">
                <a:moveTo>
                  <a:pt x="0" y="0"/>
                </a:moveTo>
                <a:lnTo>
                  <a:pt x="6819371" y="0"/>
                </a:lnTo>
                <a:lnTo>
                  <a:pt x="6819371" y="3539036"/>
                </a:lnTo>
                <a:lnTo>
                  <a:pt x="0" y="35390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460919" y="5702871"/>
            <a:ext cx="6378467" cy="3555429"/>
          </a:xfrm>
          <a:custGeom>
            <a:avLst/>
            <a:gdLst/>
            <a:ahLst/>
            <a:cxnLst/>
            <a:rect r="r" b="b" t="t" l="l"/>
            <a:pathLst>
              <a:path h="3555429" w="6378467">
                <a:moveTo>
                  <a:pt x="0" y="0"/>
                </a:moveTo>
                <a:lnTo>
                  <a:pt x="6378467" y="0"/>
                </a:lnTo>
                <a:lnTo>
                  <a:pt x="6378467" y="3555429"/>
                </a:lnTo>
                <a:lnTo>
                  <a:pt x="0" y="35554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35562" y="967969"/>
            <a:ext cx="1128954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AutoNum type="arabicPeriod" startAt="1"/>
            </a:pP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Models used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1436" y="2098970"/>
            <a:ext cx="16601068" cy="1968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0429" indent="-305214" lvl="1">
              <a:lnSpc>
                <a:spcPts val="3958"/>
              </a:lnSpc>
              <a:buFont typeface="Arial"/>
              <a:buChar char="•"/>
            </a:pPr>
            <a:r>
              <a:rPr lang="en-US" sz="282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Cosine similarity: Similarity of embeddings between title and triplet using cosines</a:t>
            </a:r>
          </a:p>
          <a:p>
            <a:pPr algn="l" marL="610429" indent="-305214" lvl="1">
              <a:lnSpc>
                <a:spcPts val="3958"/>
              </a:lnSpc>
              <a:buFont typeface="Arial"/>
              <a:buChar char="•"/>
            </a:pPr>
            <a:r>
              <a:rPr lang="en-US" sz="282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Cross-encoder: Analyzes the relationship between title and triplet using a shared encoder and transformers</a:t>
            </a:r>
          </a:p>
          <a:p>
            <a:pPr algn="l" marL="610429" indent="-305214" lvl="1">
              <a:lnSpc>
                <a:spcPts val="3958"/>
              </a:lnSpc>
              <a:buFont typeface="Arial"/>
              <a:buChar char="•"/>
            </a:pPr>
            <a:r>
              <a:rPr lang="en-US" sz="282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Entity Score: Applies cosine similarity between title and entities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94223" y="4505801"/>
            <a:ext cx="1253549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443A"/>
                </a:solidFill>
                <a:latin typeface="Open Sans"/>
                <a:ea typeface="Open Sans"/>
                <a:cs typeface="Open Sans"/>
                <a:sym typeface="Open Sans"/>
              </a:rPr>
              <a:t>score = </a:t>
            </a:r>
            <a:r>
              <a:rPr lang="en-US" sz="3000">
                <a:solidFill>
                  <a:srgbClr val="FF443A"/>
                </a:solidFill>
                <a:latin typeface="Open Sans"/>
                <a:ea typeface="Open Sans"/>
                <a:cs typeface="Open Sans"/>
                <a:sym typeface="Open Sans"/>
              </a:rPr>
              <a:t>0.45 * cosine_score + 0.35 * cross_scores + 0.20 * entity_scores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47014" y="419633"/>
            <a:ext cx="3015491" cy="1198658"/>
          </a:xfrm>
          <a:custGeom>
            <a:avLst/>
            <a:gdLst/>
            <a:ahLst/>
            <a:cxnLst/>
            <a:rect r="r" b="b" t="t" l="l"/>
            <a:pathLst>
              <a:path h="1198658" w="3015491">
                <a:moveTo>
                  <a:pt x="0" y="0"/>
                </a:moveTo>
                <a:lnTo>
                  <a:pt x="3015490" y="0"/>
                </a:lnTo>
                <a:lnTo>
                  <a:pt x="3015490" y="1198658"/>
                </a:lnTo>
                <a:lnTo>
                  <a:pt x="0" y="11986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5107" y="419633"/>
            <a:ext cx="553593" cy="9635084"/>
          </a:xfrm>
          <a:custGeom>
            <a:avLst/>
            <a:gdLst/>
            <a:ahLst/>
            <a:cxnLst/>
            <a:rect r="r" b="b" t="t" l="l"/>
            <a:pathLst>
              <a:path h="9635084" w="553593">
                <a:moveTo>
                  <a:pt x="0" y="0"/>
                </a:moveTo>
                <a:lnTo>
                  <a:pt x="553593" y="0"/>
                </a:lnTo>
                <a:lnTo>
                  <a:pt x="553593" y="9635084"/>
                </a:lnTo>
                <a:lnTo>
                  <a:pt x="0" y="96350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0537" t="0" r="-1563923" b="-22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800457" y="3506441"/>
            <a:ext cx="3277646" cy="3751240"/>
          </a:xfrm>
          <a:custGeom>
            <a:avLst/>
            <a:gdLst/>
            <a:ahLst/>
            <a:cxnLst/>
            <a:rect r="r" b="b" t="t" l="l"/>
            <a:pathLst>
              <a:path h="3751240" w="3277646">
                <a:moveTo>
                  <a:pt x="0" y="0"/>
                </a:moveTo>
                <a:lnTo>
                  <a:pt x="3277646" y="0"/>
                </a:lnTo>
                <a:lnTo>
                  <a:pt x="3277646" y="3751241"/>
                </a:lnTo>
                <a:lnTo>
                  <a:pt x="0" y="37512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35562" y="967969"/>
            <a:ext cx="1128954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AutoNum type="arabicPeriod" startAt="1"/>
            </a:pP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69146" y="2770025"/>
            <a:ext cx="11379398" cy="584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</a:t>
            </a:r>
            <a:r>
              <a:rPr lang="en-US" b="true" sz="24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esults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Structuring knowledge through graphs and ranking triplets.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Hypotheses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Automating triples in Wikidata improves the extraction of structured knowledge.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Limitations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High dependence on the quality of external requests via SPARQL to Wikidata.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Perspectives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Optimization for large volumes of data with diverse models.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Personal improvement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tudy of embedding techniques, transformers, and SPARQL requests.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DAHIKMQuWxY</dc:identifier>
  <dcterms:modified xsi:type="dcterms:W3CDTF">2011-08-01T06:04:30Z</dcterms:modified>
  <cp:revision>1</cp:revision>
  <dc:title>Wikidata S8</dc:title>
</cp:coreProperties>
</file>